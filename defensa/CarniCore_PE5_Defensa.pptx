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s-EC" sz="1300" b="0" i="0" u="none" strike="noStrike">
                <a:solidFill>
                  <a:srgbClr val="2B2B2B"/>
                </a:solidFill>
                <a:latin typeface="Arial"/>
              </a:rPr>
              <a:t>Defectos por severidad (ERS v1.0)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Defectos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Críticos</c:v>
                </c:pt>
                <c:pt idx="1">
                  <c:v>Mayores</c:v>
                </c:pt>
                <c:pt idx="2">
                  <c:v>Menores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9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AD-4B0C-A54F-CDE97413AD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s-EC" sz="1300" b="0" i="0" u="none" strike="noStrike">
                <a:solidFill>
                  <a:srgbClr val="2B2B2B"/>
                </a:solidFill>
                <a:latin typeface="Arial"/>
              </a:rPr>
              <a:t>Cobertura de trazabilidad adelante (M4ade)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90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8D-4EDC-AF4C-1A22B792469E}"/>
              </c:ext>
            </c:extLst>
          </c:dPt>
          <c:dPt>
            <c:idx val="1"/>
            <c:bubble3D val="0"/>
            <c:spPr>
              <a:solidFill>
                <a:srgbClr val="E3D3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8D-4EDC-AF4C-1A22B792469E}"/>
              </c:ext>
            </c:extLst>
          </c:dPt>
          <c:cat>
            <c:strRef>
              <c:f>Sheet1!$A$2:$A$3</c:f>
              <c:strCache>
                <c:ptCount val="2"/>
                <c:pt idx="0">
                  <c:v>Trazabilidad completa</c:v>
                </c:pt>
                <c:pt idx="1">
                  <c:v>Pendiente/justificado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8D-4EDC-AF4C-1A22B7924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s-EC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86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6B000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EXPERIMENTAL UNIDAD V  ·  DEFENSA TÉCNICA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CarniCore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Trazabilidad, Pesaje Inteligente e Inventario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Distribuidora de Cárnicos Pucayacu — La Maná, Cotopaxi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Requerimientos (ISR-401) · UTEQ · 2026–2027 PPA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Amagua Sacón, Robyn Willian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0" y="5440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Crespo Espinoza, Kleber Obed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824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Gamarra Araujo, Edhu Xavier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0" y="5824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Ponce Rivera, Mery Helenmey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PhD. Guerrero Ulloa Gleiston Cicerón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contexto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 de cárnicos Pucayacu (La Maná, Cotopaxi) operaba en 2026 con gestión 100% manual: cuadernos físicos y hojas de cálculo, sin ningún mecanismo de trazabilidad integrado.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/home/claude/pe5/build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1181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0358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720" y="336499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 de producto no detectado a tiempo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0" name="Image 1" descr="/home/claude/pe5/build/icons/check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0782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9959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regulatorio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88720" y="43251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acreditar la cadena de trazabilidad exigida por Agrocalidad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4" name="Image 2" descr="/home/claude/pe5/build/icons/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50383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956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de inventario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88720" y="52852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Discrepancias no explicadas entre registro manual y conteo físico semanal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903720" y="1417320"/>
            <a:ext cx="4754880" cy="47091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18" name="Text 13"/>
          <p:cNvSpPr/>
          <p:nvPr/>
        </p:nvSpPr>
        <p:spPr>
          <a:xfrm>
            <a:off x="726948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CARNICORE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269480" y="214884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proveedores y guías de origen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Pesaje inteligente con cálculo automático de costos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 en cámaras frigoríficas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vida útil por tipo de producto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gerenciales exportables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269480" y="56235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Elicitado mediante entrevistas semiestructuradas + observación directa en planta.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y stakeholders</a:t>
            </a:r>
            <a:endParaRPr lang="en-US" sz="3000" dirty="0"/>
          </a:p>
        </p:txBody>
      </p:sp>
      <p:pic>
        <p:nvPicPr>
          <p:cNvPr id="4" name="Image 0" descr="/home/claude/pe5/PE5/figuras/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649224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 — 12 CU principales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2694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ACTORES · 12 CASOS DE USO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5"/>
          <p:cNvSpPr/>
          <p:nvPr/>
        </p:nvSpPr>
        <p:spPr>
          <a:xfrm>
            <a:off x="7543800" y="19842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43800" y="22768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poder / alto interés — 64% de los RF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288036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27614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general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43800" y="3054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Reportes, auditoría, incidentes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69480" y="365760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1"/>
          <p:cNvSpPr/>
          <p:nvPr/>
        </p:nvSpPr>
        <p:spPr>
          <a:xfrm>
            <a:off x="7543800" y="35387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bodega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43800" y="38313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modo offline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69480" y="443484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43159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Carnicero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43800" y="46085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Despiece y clasificación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521208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7"/>
          <p:cNvSpPr/>
          <p:nvPr/>
        </p:nvSpPr>
        <p:spPr>
          <a:xfrm>
            <a:off x="7543800" y="50932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Sucursal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43800" y="53858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pública vía QR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Ingeniería de Requisitos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DEB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84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Elicitación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347472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poder/interés · 1ª ronda de entrevistas · EV-01 a EV-09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2496312"/>
            <a:ext cx="118872" cy="3657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18745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DEBEA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984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62072" y="242316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15768" y="347472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RF, 6 RNF · mockups baja fidelidad · MoSCoW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55464" y="2496312"/>
            <a:ext cx="118872" cy="3657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8745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DEBE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84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02352" y="242316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Elicitación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56048" y="347472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RF, 15 RNF · 20 mockups alta fidelidad · UML completo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95744" y="2496312"/>
            <a:ext cx="118872" cy="3657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8745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DEBEA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984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42632" y="242316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Gestión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96328" y="347472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Fagan (17 defectos) · 3 RFC ante CCB · baseline v1.1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36024" y="2496312"/>
            <a:ext cx="118872" cy="3657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4" name="Shape 22"/>
          <p:cNvSpPr/>
          <p:nvPr/>
        </p:nvSpPr>
        <p:spPr>
          <a:xfrm>
            <a:off x="9509760" y="187452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1984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82912" y="242316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Integración,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Cierre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36608" y="3474720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métricas ISO 25010 · trazabilidad end-to-end · 2 componentes IA · ERS v4.0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109960" cy="8229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650992"/>
            <a:ext cx="10652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semiestructurada (principal) + observación directa + cuestionario de validación cuantitativa.  </a:t>
            </a: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clave: 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 de IA se excluyeron del alcance v3.0 y se incorporan en PE5 como especificación justificada por el dominio.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ERS/SRS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y requisitos clave — v4.0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EDEB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3504" y="22860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50876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EDEBE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600200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66544" y="22860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EDEBE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00200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9584" y="22860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Must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1508760"/>
            <a:ext cx="1353312" cy="1371600"/>
          </a:xfrm>
          <a:prstGeom prst="roundRect">
            <a:avLst>
              <a:gd name="adj" fmla="val 5405"/>
            </a:avLst>
          </a:prstGeom>
          <a:solidFill>
            <a:srgbClr val="EDEBE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00200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92624" y="22860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con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PRIORIZACIÓN: MoSCoW + Kano + WSJF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WSJF ubicó como máxima prioridad a RF-08 (vida útil, WSJF = 4,2), RF-11 (trazabilidad, WSJF = 3,8) y RF-04 (pesaje, WSJF = 3,5). Clasificación Kano: básicos, de rendimiento y atractivos.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CLAVE INCORPORADOS EN v4.0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RF-26/RF-27 y RNF-03 (MFA) aprobados por el CCB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completa de requisitos de IA (IA-01, IA-02)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RF-17 enlazado a CU-01 — cierre de huérfano</a:t>
            </a:r>
            <a:endParaRPr lang="en-US" sz="1200" dirty="0"/>
          </a:p>
        </p:txBody>
      </p:sp>
      <p:pic>
        <p:nvPicPr>
          <p:cNvPr id="20" name="Image 0" descr="/home/claude/pe5/PE5/figuras/WSJF_RF_M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08760"/>
            <a:ext cx="5166360" cy="4846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UML principales</a:t>
            </a:r>
            <a:endParaRPr lang="en-US" sz="3000" dirty="0"/>
          </a:p>
        </p:txBody>
      </p:sp>
      <p:pic>
        <p:nvPicPr>
          <p:cNvPr id="4" name="Image 0" descr="/home/claude/pe5/PE5/figuras/Class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532120" cy="4078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57784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— separa Lote (aves) de Animal (arete individual)</a:t>
            </a:r>
            <a:endParaRPr lang="en-US" sz="1050" dirty="0"/>
          </a:p>
        </p:txBody>
      </p:sp>
      <p:pic>
        <p:nvPicPr>
          <p:cNvPr id="6" name="Image 1" descr="/home/claude/pe5/PE5/figuras/Stat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63040"/>
            <a:ext cx="5394960" cy="2852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43708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estados del lote/producto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263640" y="4754880"/>
            <a:ext cx="5394960" cy="12801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4864608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casos de uso · diagrama de clases · 12 diagramas de secuencia · 6 de actividad · estados · componentes · despliegue — modelado completo desde PE3.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la inspección Fagan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DEB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únicos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DEBEA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/ página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(umbral: 0,5)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DEBE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distintos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inspección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4108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DEBEA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Corregidos en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(críticos+mayores)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246120"/>
          <a:ext cx="53949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263640" y="3246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DEFECTOS CRÍTICOS CORREGIDOS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36576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990011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65760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49440" y="36118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RF-25 no delimitaba campos públicos del QR (RUC, precio de compra expuestos)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4553712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990011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55371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D-02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949440" y="45079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 solo definía vida útil para pollo; faltaban res, cerdo y embutidos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5449824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990011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54498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949440" y="540410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 exigía 98% de disponibilidad sin definir el RTO ante caídas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06–08 · CIERRE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end-to-end y métricas de calidad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TRAZABILIDAD FINAL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filas · Fuente → RF → CU → Clase → Estado → BDD → CP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requisitos base + 18 requisitos de IA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backlog–ERS: 92% (23/25 RF con historia)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394960" cy="31089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MÉTRICAS ISO/IEC 25010:2023 — 6/6 CUMPLEN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54680" y="3703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34840" y="3703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Completitud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0233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40233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4074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Consistencia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4407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0,9987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4407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7914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Verificabilidad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4791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7914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1755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Trazabilidad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54680" y="5175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5175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5595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Modificabilidad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5559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5559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2,71 req.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5943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Corrección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54680" y="5943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5943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</a:t>
            </a:r>
            <a:endParaRPr lang="en-US" sz="12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309360" y="1463040"/>
          <a:ext cx="5349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6309360" y="4937760"/>
            <a:ext cx="5349240" cy="132588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31" name="Text 28"/>
          <p:cNvSpPr/>
          <p:nvPr/>
        </p:nvSpPr>
        <p:spPr>
          <a:xfrm>
            <a:off x="6537960" y="5047488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Patologías cerradas: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requisitos huérfanos, 0 cadenas rotas abiertas al cierre. Todo enlace verificado, no marcado “por si acaso”.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REQUISITOS DE 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componentes especificados para CarniCore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DEB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de demanda por tipo de corte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— predicción semanal en libras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7673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≤ 10 lb (RNF-IA-01)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16966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temporada ≤30% · sesgo por corte ≤20 pp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7914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5010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factores de mayor peso, en lenguaje natural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41324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56327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histórico de 4 semanas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DEB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78308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7830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2677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anomalías de cadena de frío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31455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binaria de riesgo (alto/bajo)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0" y="354787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37673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clase “alto” ≥ 0,90 (RNF-IA-07)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0" y="416966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UE 2024/1689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mínimo · transparencia Art. 50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47914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5010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factores más influyentes, &lt;2 segundos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541324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56327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determinística por horas de corte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RETROSPECTIVA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aprendidas — Start / Stop / Continue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11880" cy="37947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95728"/>
            <a:ext cx="309981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formal de evidencias desde la 1ª entrevista</a:t>
            </a:r>
            <a:endParaRPr lang="en-US" sz="12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trazabilidad en paralelo a la especificación</a:t>
            </a:r>
            <a:endParaRPr lang="en-US" sz="12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 versión en Git desde PE1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554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611880" cy="37947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395728"/>
            <a:ext cx="309981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requisitos sin verificar impacto en la matriz (RF-17, RF-18)</a:t>
            </a:r>
            <a:endParaRPr lang="en-US" sz="12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RNF sin umbral cuantificable</a:t>
            </a:r>
            <a:endParaRPr lang="en-US" sz="12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commits de LaTeX en un solo integrante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3E7C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554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611880" cy="3794760"/>
          </a:xfrm>
          <a:prstGeom prst="rect">
            <a:avLst/>
          </a:prstGeom>
          <a:solidFill>
            <a:srgbClr val="EDEBEA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2395728"/>
            <a:ext cx="309981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Connextra + Gherkin en historias de usuario</a:t>
            </a:r>
            <a:endParaRPr lang="en-US" sz="12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semiestructurada como técnica principal</a:t>
            </a:r>
            <a:endParaRPr lang="en-US" sz="12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combinada MoSCoW + Kano + WSJF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B00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INTEGRADORAS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Planificación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14300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poder/interés evitó un ERS incompleto en bodega: la propietaria aportó 64% de los RF, pero bodega y carnicero cubrieron los procesos de mayor uso diario.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Especificación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221992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Connextra + Gherkin redujo la densidad de defectos a 0,71/pág: las 17 HU Must resultaron directamente ejecutables como casos de prueba.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300984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Modelado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300984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Lote (aves) de Animal (arete individual) resolvió directamente la exigencia de trazabilidad de Agrocalidad — decisión nacida de la observación en planta.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379976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Validación y Gestión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4379976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trazabilidad basada en matriz superó a la estimación intuitiva: el RFC-03 reveló que RF-02 no estaba conectado con RF-23, un riesgo regulatorio invisible sin ella.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458968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Integración y Métricas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5458968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métricas ISO 25010 confirman una corrección efectiva (M6: 0,10→0,00) y una base madura para los componentes de IA (IA-01, IA-02) con requisitos trazados.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· PE5 · Defensa Técnica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6B000C"/>
          </a:solidFill>
          <a:ln/>
        </p:spPr>
      </p:sp>
      <p:pic>
        <p:nvPicPr>
          <p:cNvPr id="3" name="Image 0" descr="/home/claude/pe5/build/icons/mes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257" y="1492301"/>
            <a:ext cx="764438" cy="764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979676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C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domina el proyecto completo — el tribunal puede preguntar a cualquiera sobre cualquier parte del trabajo.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31436" y="4434840"/>
            <a:ext cx="29260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CarniCore — Equipo J  ·  Ingeniería de Requerimientos (ISR-401)  ·  UTEQ 2026–2027 PPA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0" y="5029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https://github.com/EdhuXav/PE5_ISR401_GRUPO_CCGaPQ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1273</Words>
  <Application>Microsoft Office PowerPoint</Application>
  <PresentationFormat>Panorámica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Edhu Araujo</cp:lastModifiedBy>
  <cp:revision>3</cp:revision>
  <dcterms:created xsi:type="dcterms:W3CDTF">2026-08-19T03:39:22Z</dcterms:created>
  <dcterms:modified xsi:type="dcterms:W3CDTF">2026-08-22T03:21:59Z</dcterms:modified>
</cp:coreProperties>
</file>